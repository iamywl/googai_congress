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6191D"/>
                </a:solidFill>
                <a:latin typeface="Segoe UI"/>
              </a:rPr>
              <a:t>MetricLens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454B52"/>
                </a:solidFill>
                <a:latin typeface="Segoe UI"/>
              </a:rPr>
              <a:t>Lightweight time-series forecasting + integer-programming resizing for SLO-safe minimal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77B4"/>
                </a:solidFill>
                <a:latin typeface="Segoe UI"/>
              </a:rPr>
              <a:t>Team Googling — Lee Yongwon · Seo Hannyeong · Song Simwoo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3 logical layers + live GCP data plane · Cloud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1075" y="1690116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95855" y="1690116"/>
            <a:ext cx="2606040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Presentation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Segoe UI"/>
              </a:rPr>
              <a:t>browser SPA on Cloud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03242" y="177698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ct_149E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066" y="1907286"/>
            <a:ext cx="202692" cy="2026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08626" y="177698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React 19 SPA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Vite · ECharts (Canvas)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8375" y="177698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nginx_0096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1907286"/>
            <a:ext cx="202692" cy="2026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23760" y="177698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nginx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non-root static serving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4476" y="2327148"/>
            <a:ext cx="0" cy="21717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195822" y="2368048"/>
            <a:ext cx="173736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Segoe UI"/>
              </a:rPr>
              <a:t>REST / HTTPS (CORS)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51075" y="2544318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5855" y="2544318"/>
            <a:ext cx="1498473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Business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Segoe UI"/>
              </a:rPr>
              <a:t>layered FastAPI + dependency-free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5674" y="2631186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astapi_00968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498" y="2761488"/>
            <a:ext cx="202692" cy="2026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01058" y="2631186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Controller · Service · Repository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0809" y="2631186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ython_3776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6633" y="2761488"/>
            <a:ext cx="202692" cy="2026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16193" y="2631186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Pure Core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forecaster · optimizer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5943" y="2631186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qlalchemy_D71F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1767" y="2761488"/>
            <a:ext cx="202692" cy="2026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31327" y="2631186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SQLAlchemy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async 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4476" y="3181350"/>
            <a:ext cx="0" cy="21717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195822" y="3222250"/>
            <a:ext cx="173736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Segoe UI"/>
              </a:rPr>
              <a:t>SQLAlchemy 2.0 async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51075" y="3398520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95855" y="3398520"/>
            <a:ext cx="2606040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Segoe UI"/>
              </a:rPr>
              <a:t>managed Postgres (prod) · embedded SQLite (demo)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03242" y="3485388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postgresql_4169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066" y="3615690"/>
            <a:ext cx="202692" cy="20269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08626" y="3485388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PostgreSQL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production (Cloud SQL)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8375" y="3485388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qlite_003B5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4200" y="3615690"/>
            <a:ext cx="202692" cy="2026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3485388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SQLite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embedded demo (auto-seed)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51075" y="4440936"/>
            <a:ext cx="8686800" cy="637032"/>
          </a:xfrm>
          <a:prstGeom prst="roundRect">
            <a:avLst>
              <a:gd name="adj" fmla="val 11363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95855" y="4440936"/>
            <a:ext cx="1498473" cy="637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1" b="1">
                <a:solidFill>
                  <a:srgbClr val="16191D"/>
                </a:solidFill>
                <a:latin typeface="Segoe UI"/>
              </a:rPr>
              <a:t>GCP managed fleet — external data plane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13" b="0">
                <a:solidFill>
                  <a:srgbClr val="454B52"/>
                </a:solidFill>
                <a:latin typeface="Segoe UI"/>
              </a:rPr>
              <a:t>live CPU/memory telemetry + resize actuation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95674" y="452780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1498" y="4658106"/>
            <a:ext cx="202692" cy="2026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901058" y="452780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Compute 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VM inventory · setMachineType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0809" y="452780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6633" y="4658106"/>
            <a:ext cx="202692" cy="20269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16193" y="452780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Cloud Monitoring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instance/cpu/utilization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25943" y="4527804"/>
            <a:ext cx="2026920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1767" y="4658106"/>
            <a:ext cx="202692" cy="20269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331327" y="4527804"/>
            <a:ext cx="1534668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Ops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memory/percent_used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4212336" y="4035552"/>
            <a:ext cx="0" cy="405384"/>
          </a:xfrm>
          <a:prstGeom prst="line">
            <a:avLst/>
          </a:prstGeom>
          <a:ln w="10134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13682" y="4199515"/>
            <a:ext cx="376428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Segoe UI"/>
              </a:rPr>
              <a:t>ingest · GcpSyncService: list_time_series → persist (Metric/Host)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976616" y="4035552"/>
            <a:ext cx="0" cy="405384"/>
          </a:xfrm>
          <a:prstGeom prst="line">
            <a:avLst/>
          </a:prstGeom>
          <a:ln w="10134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077962" y="4170559"/>
            <a:ext cx="2171700" cy="135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7" b="0">
                <a:solidFill>
                  <a:srgbClr val="454B52"/>
                </a:solidFill>
                <a:latin typeface="Segoe UI"/>
              </a:rPr>
              <a:t>actuate: setMachineType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1075" y="5174789"/>
            <a:ext cx="2895600" cy="1538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2" b="1">
                <a:solidFill>
                  <a:srgbClr val="16191D"/>
                </a:solidFill>
                <a:latin typeface="Segoe UI"/>
              </a:rPr>
              <a:t>Deployment infrastructure (cross-cutting)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751075" y="5353050"/>
            <a:ext cx="8686801" cy="0"/>
          </a:xfrm>
          <a:prstGeom prst="line">
            <a:avLst/>
          </a:prstGeom>
          <a:ln w="7239">
            <a:solidFill>
              <a:srgbClr val="1619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1751075" y="5425440"/>
            <a:ext cx="4271010" cy="92659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81377" y="5483352"/>
            <a:ext cx="4010406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16191D"/>
                </a:solidFill>
                <a:latin typeface="Segoe UI"/>
              </a:rPr>
              <a:t>Runtime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Segoe UI"/>
              </a:rPr>
              <a:t>GCP-native, scale-to-zero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81377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7201" y="5888736"/>
            <a:ext cx="202692" cy="20269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286761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Cloud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serverless · scale-to-zero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51731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docker_2496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7556" y="5888736"/>
            <a:ext cx="202692" cy="20269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357116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Docker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non-root images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66866" y="5425440"/>
            <a:ext cx="4271010" cy="926592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97168" y="5483352"/>
            <a:ext cx="4010406" cy="289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1" b="1">
                <a:solidFill>
                  <a:srgbClr val="16191D"/>
                </a:solidFill>
                <a:latin typeface="Segoe UI"/>
              </a:rPr>
              <a:t>CI/CD pipeline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70" b="0">
                <a:solidFill>
                  <a:srgbClr val="454B52"/>
                </a:solidFill>
                <a:latin typeface="Segoe UI"/>
              </a:rPr>
              <a:t>Cloud Build → Cloud Run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7168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git_F0503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2991" y="5888736"/>
            <a:ext cx="202692" cy="20269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6702552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git push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GitHub · main branch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67522" y="5758434"/>
            <a:ext cx="1940052" cy="46329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3346" y="5888736"/>
            <a:ext cx="202692" cy="20269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772906" y="5758434"/>
            <a:ext cx="1447800" cy="463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8" b="1">
                <a:solidFill>
                  <a:srgbClr val="16191D"/>
                </a:solidFill>
                <a:latin typeface="Segoe UI"/>
              </a:rPr>
              <a:t>Cloud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7" b="0">
                <a:solidFill>
                  <a:srgbClr val="454B52"/>
                </a:solidFill>
                <a:latin typeface="Segoe UI"/>
              </a:rPr>
              <a:t>lint·test·build → deploy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Runtime &amp;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Cloud Build -&gt; Cloud Run · Monitoring ingest / Compute Engine resize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54922" y="1707863"/>
            <a:ext cx="9079107" cy="9247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89427" y="1775115"/>
            <a:ext cx="8810096" cy="319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CI/CD pipeline (Cloud Build to Cloud Run)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0">
                <a:solidFill>
                  <a:srgbClr val="454B52"/>
                </a:solidFill>
                <a:latin typeface="Segoe UI"/>
              </a:rPr>
              <a:t>git push -&gt; lint -&gt; test -&gt; build image -&gt; deploy -&gt; health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23054" y="2094565"/>
            <a:ext cx="1260987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it_F05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746" y="2229071"/>
            <a:ext cx="218571" cy="2185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3383" y="2094565"/>
            <a:ext cx="756592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Developer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git push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2501" y="2094565"/>
            <a:ext cx="1933513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193" y="2229071"/>
            <a:ext cx="218571" cy="2185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2830" y="2094565"/>
            <a:ext cx="1429118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Cloud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lint·test·build·deploy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0410" y="2094565"/>
            <a:ext cx="1513184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102" y="2229071"/>
            <a:ext cx="218571" cy="21857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30739" y="2094565"/>
            <a:ext cx="1008789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Artifact Registry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container images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7989" y="2094565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681" y="2229071"/>
            <a:ext cx="218571" cy="2185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48318" y="2094565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Cloud Run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scale-to-zero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84041" y="2338356"/>
            <a:ext cx="588460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73876" y="2162449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trigger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06015" y="2338356"/>
            <a:ext cx="504395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253817" y="2162449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image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523594" y="2338356"/>
            <a:ext cx="504395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71397" y="2162449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deploy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922" y="2968850"/>
            <a:ext cx="9079107" cy="924723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89427" y="3036102"/>
            <a:ext cx="8810096" cy="319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Runtime serving (serverless)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0">
                <a:solidFill>
                  <a:srgbClr val="454B52"/>
                </a:solidFill>
                <a:latin typeface="Segoe UI"/>
              </a:rPr>
              <a:t>browser -&gt; frontend -&gt; backend; secrets from Secret Manager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23054" y="3355553"/>
            <a:ext cx="1260987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0746" y="3355553"/>
            <a:ext cx="1059229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Browser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React SPA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2501" y="3355553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193" y="3490058"/>
            <a:ext cx="218571" cy="2185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92830" y="3355553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Cloud Run · nginx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4146" y="3355553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839" y="3490058"/>
            <a:ext cx="218571" cy="2185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94476" y="3355553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Backend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FastAPI · Cloud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7989" y="3355553"/>
            <a:ext cx="1597250" cy="487581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5681" y="3490058"/>
            <a:ext cx="218571" cy="21857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448318" y="3355553"/>
            <a:ext cx="1092855" cy="4875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Secret Manager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DB DSN / secrets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84041" y="3599343"/>
            <a:ext cx="588460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773876" y="3423436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HTTPS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169752" y="3599343"/>
            <a:ext cx="504394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17554" y="3423436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REST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71397" y="3599343"/>
            <a:ext cx="756592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45298" y="3423436"/>
            <a:ext cx="1008789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secrets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922" y="4229837"/>
            <a:ext cx="9079107" cy="201757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689427" y="4297090"/>
            <a:ext cx="8810096" cy="319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Real-fleet monitoring &amp; resize (Cloud Monitoring + Compute Engine)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1" b="0">
                <a:solidFill>
                  <a:srgbClr val="454B52"/>
                </a:solidFill>
                <a:latin typeface="Segoe UI"/>
              </a:rPr>
              <a:t>backend reads live CPU/memory and resizes real VMs within the budget guard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5251" y="4885550"/>
            <a:ext cx="1765381" cy="4707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943" y="5011649"/>
            <a:ext cx="218571" cy="21857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395580" y="4885550"/>
            <a:ext cx="1260987" cy="470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Cloud Monitoring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CPU + memory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253817" y="4885550"/>
            <a:ext cx="1933513" cy="47076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googlecloud_4285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510" y="5011649"/>
            <a:ext cx="218571" cy="21857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674146" y="4885550"/>
            <a:ext cx="1429118" cy="4707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Compute Engine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setMachineType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96121" y="4885550"/>
            <a:ext cx="2269776" cy="571647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8406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3813" y="4885550"/>
            <a:ext cx="2068018" cy="571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6191D"/>
                </a:solidFill>
                <a:latin typeface="Segoe UI"/>
              </a:rPr>
              <a:t>Real fleet · ml-web/api/batch/idle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5" b="0">
                <a:solidFill>
                  <a:srgbClr val="454B52"/>
                </a:solidFill>
                <a:latin typeface="Segoe UI"/>
              </a:rPr>
              <a:t>e2-small · load generator + Ops Agent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72772" y="3843134"/>
            <a:ext cx="0" cy="100879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56837" y="4255687"/>
            <a:ext cx="1681316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95" b="0">
                <a:solidFill>
                  <a:srgbClr val="454B52"/>
                </a:solidFill>
                <a:latin typeface="Segoe UI"/>
              </a:rPr>
              <a:t>resize (budget-guarded)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10410" y="3843134"/>
            <a:ext cx="0" cy="907911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857942" y="4751045"/>
            <a:ext cx="3152468" cy="0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857942" y="4751045"/>
            <a:ext cx="0" cy="100879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07886" y="4625577"/>
            <a:ext cx="1345052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read CPU/mem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187331" y="5120934"/>
            <a:ext cx="975163" cy="0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019199" y="4978653"/>
            <a:ext cx="1345052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stop-&gt;change-&gt;start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331009" y="5457198"/>
            <a:ext cx="0" cy="453955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857942" y="5911153"/>
            <a:ext cx="6473067" cy="0"/>
          </a:xfrm>
          <a:prstGeom prst="line">
            <a:avLst/>
          </a:prstGeom>
          <a:ln w="11769">
            <a:solidFill>
              <a:srgbClr val="1619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2857942" y="5389945"/>
            <a:ext cx="0" cy="521208"/>
          </a:xfrm>
          <a:prstGeom prst="line">
            <a:avLst/>
          </a:prstGeom>
          <a:ln w="11769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5211785" y="5785685"/>
            <a:ext cx="1849447" cy="15005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95" b="0">
                <a:solidFill>
                  <a:srgbClr val="454B52"/>
                </a:solidFill>
                <a:latin typeface="Segoe UI"/>
              </a:rPr>
              <a:t>push metrics (Ops Agent)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Method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telemetry -&gt; forecast -&gt; SLO-constrained integer program -&gt; resize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6597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1748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5113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Segoe UI"/>
              </a:rPr>
              <a:t>Metric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2421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CPU · memory ·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52421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time series (hourly)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3353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8504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1870" y="4172731"/>
            <a:ext cx="970026" cy="15998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1" b="1">
                <a:solidFill>
                  <a:srgbClr val="16191D"/>
                </a:solidFill>
                <a:latin typeface="Segoe UI"/>
              </a:rPr>
              <a:t>Decomposition + 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9178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trend + seasonal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9178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+ rho·residual -&gt; forecast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68573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90110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5261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8626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Segoe UI"/>
              </a:rPr>
              <a:t>Robust peak (p95)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5934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p95 of the forecast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5934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(ignores transient spikes)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45330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6866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32017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5382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Segoe UI"/>
              </a:rPr>
              <a:t>Integer program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2690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smallest allocation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2690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s.t. headroom (exact)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22086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643622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08773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2138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Segoe UI"/>
              </a:rPr>
              <a:t>GCP machine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9446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snap to the nearest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9446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E2/N2/C2/C3 instance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842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120378" y="3905250"/>
            <a:ext cx="1331976" cy="95554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185529" y="4122420"/>
            <a:ext cx="188214" cy="188214"/>
          </a:xfrm>
          <a:prstGeom prst="ellipse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741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8894" y="4166577"/>
            <a:ext cx="970026" cy="1722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98" b="1">
                <a:solidFill>
                  <a:srgbClr val="16191D"/>
                </a:solidFill>
                <a:latin typeface="Segoe UI"/>
              </a:rPr>
              <a:t>Resize + audit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6202" y="4377413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SLO preserved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6202" y="4507715"/>
            <a:ext cx="1158240" cy="1415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55" b="0">
                <a:solidFill>
                  <a:srgbClr val="454B52"/>
                </a:solidFill>
                <a:latin typeface="Segoe UI"/>
              </a:rPr>
              <a:t>persisted to audit log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975598" y="4383024"/>
            <a:ext cx="144780" cy="0"/>
          </a:xfrm>
          <a:prstGeom prst="line">
            <a:avLst/>
          </a:prstGeom>
          <a:ln w="10134">
            <a:solidFill>
              <a:srgbClr val="1619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083051" y="2153412"/>
            <a:ext cx="1592580" cy="125958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7239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26486" y="2057676"/>
            <a:ext cx="1737360" cy="104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4" b="0">
                <a:solidFill>
                  <a:srgbClr val="454B52"/>
                </a:solidFill>
                <a:latin typeface="Segoe UI"/>
              </a:rPr>
              <a:t>forecast + 95% interval</a:t>
            </a:r>
          </a:p>
        </p:txBody>
      </p:sp>
      <p:sp>
        <p:nvSpPr>
          <p:cNvPr id="42" name="Freeform 41"/>
          <p:cNvSpPr/>
          <p:nvPr/>
        </p:nvSpPr>
        <p:spPr>
          <a:xfrm>
            <a:off x="4070773" y="2945445"/>
            <a:ext cx="546947" cy="351365"/>
          </a:xfrm>
          <a:custGeom>
            <a:avLst/>
            <a:gdLst/>
            <a:ahLst/>
            <a:cxnLst/>
            <a:rect l="l" t="t" r="r" b="b"/>
            <a:pathLst>
              <a:path w="546947" h="351365">
                <a:moveTo>
                  <a:pt x="0" y="61094"/>
                </a:moveTo>
                <a:lnTo>
                  <a:pt x="54695" y="122444"/>
                </a:lnTo>
                <a:lnTo>
                  <a:pt x="109389" y="170861"/>
                </a:lnTo>
                <a:lnTo>
                  <a:pt x="164084" y="204202"/>
                </a:lnTo>
                <a:lnTo>
                  <a:pt x="218779" y="221063"/>
                </a:lnTo>
                <a:lnTo>
                  <a:pt x="273473" y="220854"/>
                </a:lnTo>
                <a:lnTo>
                  <a:pt x="328168" y="203822"/>
                </a:lnTo>
                <a:lnTo>
                  <a:pt x="382862" y="171042"/>
                </a:lnTo>
                <a:lnTo>
                  <a:pt x="437557" y="124363"/>
                </a:lnTo>
                <a:lnTo>
                  <a:pt x="492252" y="66318"/>
                </a:lnTo>
                <a:lnTo>
                  <a:pt x="546947" y="0"/>
                </a:lnTo>
                <a:lnTo>
                  <a:pt x="546947" y="130302"/>
                </a:lnTo>
                <a:lnTo>
                  <a:pt x="492252" y="196620"/>
                </a:lnTo>
                <a:lnTo>
                  <a:pt x="437557" y="254665"/>
                </a:lnTo>
                <a:lnTo>
                  <a:pt x="382862" y="301344"/>
                </a:lnTo>
                <a:lnTo>
                  <a:pt x="328168" y="334124"/>
                </a:lnTo>
                <a:lnTo>
                  <a:pt x="273473" y="351156"/>
                </a:lnTo>
                <a:lnTo>
                  <a:pt x="218779" y="351365"/>
                </a:lnTo>
                <a:lnTo>
                  <a:pt x="164084" y="334504"/>
                </a:lnTo>
                <a:lnTo>
                  <a:pt x="109389" y="301163"/>
                </a:lnTo>
                <a:lnTo>
                  <a:pt x="54695" y="252746"/>
                </a:lnTo>
                <a:lnTo>
                  <a:pt x="0" y="191396"/>
                </a:lnTo>
                <a:close/>
              </a:path>
            </a:pathLst>
          </a:custGeom>
          <a:solidFill>
            <a:srgbClr val="D6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140963" y="2469555"/>
            <a:ext cx="929810" cy="602135"/>
          </a:xfrm>
          <a:custGeom>
            <a:avLst/>
            <a:gdLst/>
            <a:ahLst/>
            <a:cxnLst/>
            <a:rect l="l" t="t" r="r" b="b"/>
            <a:pathLst>
              <a:path w="929810" h="602135">
                <a:moveTo>
                  <a:pt x="0" y="313650"/>
                </a:moveTo>
                <a:lnTo>
                  <a:pt x="54695" y="241893"/>
                </a:lnTo>
                <a:lnTo>
                  <a:pt x="109390" y="173904"/>
                </a:lnTo>
                <a:lnTo>
                  <a:pt x="164085" y="113261"/>
                </a:lnTo>
                <a:lnTo>
                  <a:pt x="218779" y="63186"/>
                </a:lnTo>
                <a:lnTo>
                  <a:pt x="273474" y="26378"/>
                </a:lnTo>
                <a:lnTo>
                  <a:pt x="328169" y="4884"/>
                </a:lnTo>
                <a:lnTo>
                  <a:pt x="382863" y="0"/>
                </a:lnTo>
                <a:lnTo>
                  <a:pt x="437558" y="12202"/>
                </a:lnTo>
                <a:lnTo>
                  <a:pt x="492252" y="41128"/>
                </a:lnTo>
                <a:lnTo>
                  <a:pt x="546947" y="85593"/>
                </a:lnTo>
                <a:lnTo>
                  <a:pt x="601642" y="143647"/>
                </a:lnTo>
                <a:lnTo>
                  <a:pt x="656337" y="212672"/>
                </a:lnTo>
                <a:lnTo>
                  <a:pt x="711031" y="289512"/>
                </a:lnTo>
                <a:lnTo>
                  <a:pt x="765726" y="370624"/>
                </a:lnTo>
                <a:lnTo>
                  <a:pt x="820421" y="452257"/>
                </a:lnTo>
                <a:lnTo>
                  <a:pt x="875115" y="530633"/>
                </a:lnTo>
                <a:lnTo>
                  <a:pt x="929810" y="602135"/>
                </a:lnTo>
              </a:path>
            </a:pathLst>
          </a:custGeom>
          <a:noFill/>
          <a:ln w="10134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070773" y="3010596"/>
            <a:ext cx="546947" cy="221063"/>
          </a:xfrm>
          <a:custGeom>
            <a:avLst/>
            <a:gdLst/>
            <a:ahLst/>
            <a:cxnLst/>
            <a:rect l="l" t="t" r="r" b="b"/>
            <a:pathLst>
              <a:path w="546947" h="221063">
                <a:moveTo>
                  <a:pt x="0" y="61094"/>
                </a:moveTo>
                <a:lnTo>
                  <a:pt x="54695" y="122444"/>
                </a:lnTo>
                <a:lnTo>
                  <a:pt x="109389" y="170861"/>
                </a:lnTo>
                <a:lnTo>
                  <a:pt x="164084" y="204202"/>
                </a:lnTo>
                <a:lnTo>
                  <a:pt x="218779" y="221063"/>
                </a:lnTo>
                <a:lnTo>
                  <a:pt x="273473" y="220854"/>
                </a:lnTo>
                <a:lnTo>
                  <a:pt x="328168" y="203822"/>
                </a:lnTo>
                <a:lnTo>
                  <a:pt x="382862" y="171042"/>
                </a:lnTo>
                <a:lnTo>
                  <a:pt x="437557" y="124363"/>
                </a:lnTo>
                <a:lnTo>
                  <a:pt x="492252" y="66318"/>
                </a:lnTo>
                <a:lnTo>
                  <a:pt x="546947" y="0"/>
                </a:lnTo>
              </a:path>
            </a:pathLst>
          </a:custGeom>
          <a:noFill/>
          <a:ln w="10134">
            <a:solidFill>
              <a:srgbClr val="1F77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3879341" y="3412998"/>
            <a:ext cx="0" cy="492252"/>
          </a:xfrm>
          <a:prstGeom prst="line">
            <a:avLst/>
          </a:prstGeom>
          <a:ln w="7239">
            <a:solidFill>
              <a:srgbClr val="1619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126486" y="5280660"/>
            <a:ext cx="5935980" cy="752856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7239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1265" y="5500725"/>
            <a:ext cx="5646420" cy="196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12" b="1">
                <a:solidFill>
                  <a:srgbClr val="16191D"/>
                </a:solidFill>
                <a:latin typeface="Consolas"/>
              </a:rPr>
              <a:t>peak_load × safety_margin  ≤  target_utilisation × allocation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7461" y="5742508"/>
            <a:ext cx="5574030" cy="1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84" b="0">
                <a:solidFill>
                  <a:srgbClr val="454B52"/>
                </a:solidFill>
                <a:latin typeface="Segoe UI"/>
              </a:rPr>
              <a:t>exact enumeration of the smallest feasible integer size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6094476" y="4860798"/>
            <a:ext cx="738378" cy="419862"/>
          </a:xfrm>
          <a:prstGeom prst="line">
            <a:avLst/>
          </a:prstGeom>
          <a:ln w="7239">
            <a:solidFill>
              <a:srgbClr val="1F77B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Model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STL + AR(1) forecast and integer-programming resize: the exact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1076" y="1719072"/>
            <a:ext cx="8686800" cy="268501"/>
          </a:xfrm>
          <a:prstGeom prst="roundRect">
            <a:avLst>
              <a:gd name="adj" fmla="val 23529"/>
            </a:avLst>
          </a:prstGeom>
          <a:solidFill>
            <a:srgbClr val="F4F6F8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7429" y="1772772"/>
            <a:ext cx="1895301" cy="161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46" b="1">
                <a:solidFill>
                  <a:srgbClr val="454B52"/>
                </a:solidFill>
                <a:latin typeface="Segoe UI"/>
              </a:rPr>
              <a:t>Decomposition model: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5639" y="1795476"/>
            <a:ext cx="3316778" cy="19466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1" b="0">
                <a:solidFill>
                  <a:srgbClr val="16191D"/>
                </a:solidFill>
                <a:latin typeface="Consolas"/>
              </a:rPr>
              <a:t>y</a:t>
            </a:r>
            <a:r>
              <a:rPr sz="64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901" b="0">
                <a:solidFill>
                  <a:srgbClr val="16191D"/>
                </a:solidFill>
                <a:latin typeface="Consolas"/>
              </a:rPr>
              <a:t> = T</a:t>
            </a:r>
            <a:r>
              <a:rPr sz="64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901" b="0">
                <a:solidFill>
                  <a:srgbClr val="16191D"/>
                </a:solidFill>
                <a:latin typeface="Consolas"/>
              </a:rPr>
              <a:t> + S</a:t>
            </a:r>
            <a:r>
              <a:rPr sz="649" b="0" baseline="-25000">
                <a:solidFill>
                  <a:srgbClr val="16191D"/>
                </a:solidFill>
                <a:latin typeface="Consolas"/>
              </a:rPr>
              <a:t>t mod m</a:t>
            </a:r>
            <a:r>
              <a:rPr sz="901" b="0">
                <a:solidFill>
                  <a:srgbClr val="16191D"/>
                </a:solidFill>
                <a:latin typeface="Consolas"/>
              </a:rPr>
              <a:t> + r</a:t>
            </a:r>
            <a:r>
              <a:rPr sz="649" b="0" baseline="-25000">
                <a:solidFill>
                  <a:srgbClr val="16191D"/>
                </a:solidFill>
                <a:latin typeface="Consolas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7988" y="1779484"/>
            <a:ext cx="1263534" cy="1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684" b="0">
                <a:solidFill>
                  <a:srgbClr val="454B52"/>
                </a:solidFill>
                <a:latin typeface="Segoe UI"/>
              </a:rPr>
              <a:t>m =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1076" y="2108990"/>
            <a:ext cx="868680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1">
                <a:solidFill>
                  <a:srgbClr val="1F77B4"/>
                </a:solidFill>
                <a:latin typeface="Segoe UI"/>
              </a:rPr>
              <a:t>A. Forecasting  —  seasonal-trend decomposition + AR(1) residual correction  (CPU-only, stdlib)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6870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766870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6870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3738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1. Trend (OLS)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1635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T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777" b="0">
                <a:solidFill>
                  <a:srgbClr val="16191D"/>
                </a:solidFill>
                <a:latin typeface="Consolas"/>
              </a:rPr>
              <a:t> = b.t +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1635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block means y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k</a:t>
            </a:r>
            <a:r>
              <a:rPr sz="777" b="0">
                <a:solidFill>
                  <a:srgbClr val="16191D"/>
                </a:solidFill>
                <a:latin typeface="Consolas"/>
              </a:rPr>
              <a:t>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61635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centres c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k</a:t>
            </a:r>
            <a:r>
              <a:rPr sz="777" b="0">
                <a:solidFill>
                  <a:srgbClr val="16191D"/>
                </a:solidFill>
                <a:latin typeface="Consolas"/>
              </a:rPr>
              <a:t> (deseason)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35818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5818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35818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22686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2. Seasonal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583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d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777" b="0">
                <a:solidFill>
                  <a:srgbClr val="16191D"/>
                </a:solidFill>
                <a:latin typeface="Consolas"/>
              </a:rPr>
              <a:t> = y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777" b="0">
                <a:solidFill>
                  <a:srgbClr val="16191D"/>
                </a:solidFill>
                <a:latin typeface="Consolas"/>
              </a:rPr>
              <a:t> - T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583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S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j</a:t>
            </a:r>
            <a:r>
              <a:rPr sz="777" b="0">
                <a:solidFill>
                  <a:srgbClr val="16191D"/>
                </a:solidFill>
                <a:latin typeface="Consolas"/>
              </a:rPr>
              <a:t>=mean d (t mod m=j)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583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re-centred: sum S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j</a:t>
            </a:r>
            <a:r>
              <a:rPr sz="777" b="0">
                <a:solidFill>
                  <a:srgbClr val="16191D"/>
                </a:solidFill>
                <a:latin typeface="Consolas"/>
              </a:rPr>
              <a:t>=0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46288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4766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4766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04766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1634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3. Residual + AR(1)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9532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r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777" b="0">
                <a:solidFill>
                  <a:srgbClr val="16191D"/>
                </a:solidFill>
                <a:latin typeface="Consolas"/>
              </a:rPr>
              <a:t> = d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777" b="0">
                <a:solidFill>
                  <a:srgbClr val="16191D"/>
                </a:solidFill>
                <a:latin typeface="Consolas"/>
              </a:rPr>
              <a:t> - S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 mod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9532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rho = Sr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777" b="0">
                <a:solidFill>
                  <a:srgbClr val="16191D"/>
                </a:solidFill>
                <a:latin typeface="Consolas"/>
              </a:rPr>
              <a:t>r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t-1</a:t>
            </a:r>
            <a:r>
              <a:rPr sz="777" b="0">
                <a:solidFill>
                  <a:srgbClr val="16191D"/>
                </a:solidFill>
                <a:latin typeface="Consolas"/>
              </a:rPr>
              <a:t> / Sr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t</a:t>
            </a:r>
            <a:r>
              <a:rPr sz="559" b="0" baseline="30000">
                <a:solidFill>
                  <a:srgbClr val="16191D"/>
                </a:solidFill>
                <a:latin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9532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rho in [0, 0.95]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15236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73715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73715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73715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60583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4. Point forecast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8480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y</a:t>
            </a:r>
            <a:r>
              <a:rPr sz="777" b="0">
                <a:solidFill>
                  <a:srgbClr val="16191D"/>
                </a:solidFill>
                <a:latin typeface="Consolas"/>
              </a:rPr>
              <a:t>^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n-1+h</a:t>
            </a:r>
            <a:r>
              <a:rPr sz="777" b="0">
                <a:solidFill>
                  <a:srgbClr val="16191D"/>
                </a:solidFill>
                <a:latin typeface="Consolas"/>
              </a:rPr>
              <a:t> = T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n-1+h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8480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 + S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(n-1+h) mod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68480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 + rho</a:t>
            </a:r>
            <a:r>
              <a:rPr sz="559" b="0" baseline="30000">
                <a:solidFill>
                  <a:srgbClr val="16191D"/>
                </a:solidFill>
                <a:latin typeface="Consolas"/>
              </a:rPr>
              <a:t>h</a:t>
            </a:r>
            <a:r>
              <a:rPr sz="777" b="0">
                <a:solidFill>
                  <a:srgbClr val="16191D"/>
                </a:solidFill>
                <a:latin typeface="Consolas"/>
              </a:rPr>
              <a:t>.r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n-1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84185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842663" y="2287662"/>
            <a:ext cx="1579418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42663" y="2287662"/>
            <a:ext cx="1579418" cy="205324"/>
          </a:xfrm>
          <a:prstGeom prst="roundRect">
            <a:avLst>
              <a:gd name="adj" fmla="val 34615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42663" y="2398221"/>
            <a:ext cx="1579418" cy="94765"/>
          </a:xfrm>
          <a:prstGeom prst="roundRect">
            <a:avLst>
              <a:gd name="adj" fmla="val 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29531" y="2313130"/>
            <a:ext cx="1453064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5. 95% interval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37428" y="2582816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RMSE: 1-step backtest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37428" y="2756552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PI = y</a:t>
            </a:r>
            <a:r>
              <a:rPr sz="777" b="0">
                <a:solidFill>
                  <a:srgbClr val="16191D"/>
                </a:solidFill>
                <a:latin typeface="Consolas"/>
              </a:rPr>
              <a:t>^</a:t>
            </a:r>
            <a:r>
              <a:rPr sz="777" b="0">
                <a:solidFill>
                  <a:srgbClr val="16191D"/>
                </a:solidFill>
                <a:latin typeface="Consolas"/>
              </a:rPr>
              <a:t> +/- 1.96.RMSE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7428" y="2930288"/>
            <a:ext cx="143727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PICP ~ 0.93-0.98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53133" y="2808870"/>
            <a:ext cx="189530" cy="0"/>
          </a:xfrm>
          <a:prstGeom prst="line">
            <a:avLst/>
          </a:prstGeom>
          <a:ln w="11055">
            <a:solidFill>
              <a:srgbClr val="1F77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94476" y="3330078"/>
            <a:ext cx="0" cy="315884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189241" y="3429976"/>
            <a:ext cx="2369127" cy="1476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84" b="0">
                <a:solidFill>
                  <a:srgbClr val="454B52"/>
                </a:solidFill>
                <a:latin typeface="Segoe UI"/>
              </a:rPr>
              <a:t>forecast peak feeds the optimizer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51076" y="3751585"/>
            <a:ext cx="8686800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1">
                <a:solidFill>
                  <a:srgbClr val="D62728"/>
                </a:solidFill>
                <a:latin typeface="Segoe UI"/>
              </a:rPr>
              <a:t>B. Resizing  —  exact integer program over a bounded space (per resource: vCPU, memory blocks)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774767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774767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774767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61635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6. Robust peak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69532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x = p95 of forecast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69532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rank = ceil(0.95.N)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69532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(nearest-rank, not max)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85952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3985952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985952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72820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7. Load (in units)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80717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L = (x/100).u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cur</a:t>
            </a:r>
            <a:r>
              <a:rPr sz="777" b="0">
                <a:solidFill>
                  <a:srgbClr val="16191D"/>
                </a:solidFill>
                <a:latin typeface="Consolas"/>
              </a:rPr>
              <a:t>.g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80717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g = 1.2 (safety margin)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80717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u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cur</a:t>
            </a:r>
            <a:r>
              <a:rPr sz="777" b="0">
                <a:solidFill>
                  <a:srgbClr val="16191D"/>
                </a:solidFill>
                <a:latin typeface="Consolas"/>
              </a:rPr>
              <a:t>: current units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780628" y="4451465"/>
            <a:ext cx="205324" cy="0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197138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197138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197138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84006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8. Integer program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91903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minimise  u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91903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s.t.  L &lt;= t.u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903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t=0.65, u in {1..u</a:t>
            </a:r>
            <a:r>
              <a:rPr sz="777" b="0">
                <a:solidFill>
                  <a:srgbClr val="16191D"/>
                </a:solidFill>
                <a:latin typeface="Consolas"/>
              </a:rPr>
              <a:t>_</a:t>
            </a:r>
            <a:r>
              <a:rPr sz="777" b="0">
                <a:solidFill>
                  <a:srgbClr val="16191D"/>
                </a:solidFill>
                <a:latin typeface="Consolas"/>
              </a:rPr>
              <a:t>cur}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991813" y="4451465"/>
            <a:ext cx="205325" cy="0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8408323" y="3930257"/>
            <a:ext cx="2005861" cy="1042416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897">
            <a:solidFill>
              <a:srgbClr val="1619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8408323" y="3930257"/>
            <a:ext cx="2005861" cy="205324"/>
          </a:xfrm>
          <a:prstGeom prst="roundRect">
            <a:avLst>
              <a:gd name="adj" fmla="val 34615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408323" y="4040816"/>
            <a:ext cx="2005861" cy="94765"/>
          </a:xfrm>
          <a:prstGeom prst="roundRect">
            <a:avLst>
              <a:gd name="adj" fmla="val 0"/>
            </a:avLst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95191" y="3955725"/>
            <a:ext cx="1879507" cy="1543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15" b="1">
                <a:solidFill>
                  <a:srgbClr val="FFFFFF"/>
                </a:solidFill>
                <a:latin typeface="Segoe UI"/>
              </a:rPr>
              <a:t>9. Allocation + cost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03088" y="4225411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u* = min(u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cur</a:t>
            </a:r>
            <a:r>
              <a:rPr sz="777" b="0">
                <a:solidFill>
                  <a:srgbClr val="16191D"/>
                </a:solidFill>
                <a:latin typeface="Consolas"/>
              </a:rPr>
              <a:t>, ceil(L/t))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088" y="4399147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M* = ceil(L</a:t>
            </a:r>
            <a:r>
              <a:rPr sz="559" b="0" baseline="-25000">
                <a:solidFill>
                  <a:srgbClr val="16191D"/>
                </a:solidFill>
                <a:latin typeface="Consolas"/>
              </a:rPr>
              <a:t>m</a:t>
            </a:r>
            <a:r>
              <a:rPr sz="777" b="0">
                <a:solidFill>
                  <a:srgbClr val="16191D"/>
                </a:solidFill>
                <a:latin typeface="Consolas"/>
              </a:rPr>
              <a:t>/t).256MB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088" y="4572883"/>
            <a:ext cx="1863713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77" b="0">
                <a:solidFill>
                  <a:srgbClr val="16191D"/>
                </a:solidFill>
                <a:latin typeface="Consolas"/>
              </a:rPr>
              <a:t>save = avg D/cur .100%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02999" y="4451465"/>
            <a:ext cx="205324" cy="0"/>
          </a:xfrm>
          <a:prstGeom prst="line">
            <a:avLst/>
          </a:prstGeom>
          <a:ln w="11055">
            <a:solidFill>
              <a:srgbClr val="D627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540785" y="5125679"/>
            <a:ext cx="7107381" cy="1678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77" b="1">
                <a:solidFill>
                  <a:srgbClr val="16191D"/>
                </a:solidFill>
                <a:latin typeface="Segoe UI"/>
              </a:rPr>
              <a:t>-&gt; snap to GCP machine type (E2 / N2 / C2 / C3), budget-guarded resize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Forecast accuracy: predicted vs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one-step forecast with the 95% prediction interval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forecas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16" y="1554480"/>
            <a:ext cx="652272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Forecast error (RMSE)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model vs last-value / seasonal-naive baselines (lower is better)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error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54480"/>
            <a:ext cx="97840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MASE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below 1 beats the seasonal-naive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54480"/>
            <a:ext cx="97840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Prediction-interval calibration (PICP)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empirical coverage 0.93-0.98 vs nominal 0.95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36" y="1554480"/>
            <a:ext cx="97840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600" b="1">
                <a:solidFill>
                  <a:srgbClr val="16191D"/>
                </a:solidFill>
                <a:latin typeface="Segoe UI"/>
              </a:rPr>
              <a:t>Residual autocorrelation (ACF)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932688"/>
            <a:ext cx="112471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454B52"/>
                </a:solidFill>
                <a:latin typeface="Segoe UI"/>
              </a:rPr>
              <a:t>within the white-noise band = good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residual_a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75" y="1554480"/>
            <a:ext cx="1087120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54B52"/>
                </a:solidFill>
                <a:latin typeface="Segoe U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