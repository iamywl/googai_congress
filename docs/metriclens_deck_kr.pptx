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6191D"/>
                </a:solidFill>
                <a:latin typeface="Malgun Gothic"/>
              </a:rPr>
              <a:t>MetricLens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454B52"/>
                </a:solidFill>
                <a:latin typeface="Malgun Gothic"/>
              </a:rPr>
              <a:t>경량 시계열 예측 + 정수계획 리사이징으로 SLO 보장 최소 자원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77B4"/>
                </a:solidFill>
                <a:latin typeface="Malgun Gothic"/>
              </a:rPr>
              <a:t>Team 구글링 — 이용원 · 서한녕 · 송심우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3개 논리 계층 + 실시간 GCP 데이터 플레인 · Cloud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51075" y="1690116"/>
            <a:ext cx="8686800" cy="63703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5855" y="1690116"/>
            <a:ext cx="2606040" cy="637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표현 계층 (Presentation)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Malgun Gothic"/>
              </a:rPr>
              <a:t>브라우저 SPA · Cloud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3242" y="177698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ct_149E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66" y="1907286"/>
            <a:ext cx="202692" cy="202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08626" y="177698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React 19 SPA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Vite · ECharts (Canvas)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8375" y="177698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ginx_0096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1907286"/>
            <a:ext cx="202692" cy="2026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0" y="177698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nginx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비루트 정적 서빙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4476" y="2327148"/>
            <a:ext cx="0" cy="21717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95822" y="2368048"/>
            <a:ext cx="1737360" cy="135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7" b="0">
                <a:solidFill>
                  <a:srgbClr val="454B52"/>
                </a:solidFill>
                <a:latin typeface="Malgun Gothic"/>
              </a:rPr>
              <a:t>REST / HTTPS (CORS)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51075" y="2544318"/>
            <a:ext cx="8686800" cy="63703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5855" y="2544318"/>
            <a:ext cx="1498473" cy="637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업무 계층 (Business)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Malgun Gothic"/>
              </a:rPr>
              <a:t>레이어드 FastAPI + 의존성 없는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5674" y="2631186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stapi_0096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498" y="2761488"/>
            <a:ext cx="202692" cy="2026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01058" y="2631186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FastAPI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Controller · Service · Repository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0809" y="2631186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ython_3776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6633" y="2761488"/>
            <a:ext cx="202692" cy="2026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16193" y="2631186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Pure 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forecaster · optimizer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5943" y="2631186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qlalchemy_D71F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1767" y="2761488"/>
            <a:ext cx="202692" cy="2026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31327" y="2631186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SQLAlchemy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비동기 ORM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4476" y="3181350"/>
            <a:ext cx="0" cy="21717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95822" y="3222250"/>
            <a:ext cx="1737360" cy="135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7" b="0">
                <a:solidFill>
                  <a:srgbClr val="454B52"/>
                </a:solidFill>
                <a:latin typeface="Malgun Gothic"/>
              </a:rPr>
              <a:t>SQLAlchemy 2.0 async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51075" y="3398520"/>
            <a:ext cx="8686800" cy="63703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95855" y="3398520"/>
            <a:ext cx="2606040" cy="637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데이터 계층 (Data)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Malgun Gothic"/>
              </a:rPr>
              <a:t>운영 Postgres · 데모 SQLite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03242" y="3485388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ostgresql_4169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066" y="3615690"/>
            <a:ext cx="202692" cy="2026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08626" y="3485388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PostgreSQL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운영 (Cloud SQL)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8375" y="3485388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qlite_003B5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200" y="3615690"/>
            <a:ext cx="202692" cy="2026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3485388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SQLite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내장 데모 (자동 시드)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51075" y="4440936"/>
            <a:ext cx="8686800" cy="63703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95855" y="4440936"/>
            <a:ext cx="1498473" cy="637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5" b="1">
                <a:solidFill>
                  <a:srgbClr val="16191D"/>
                </a:solidFill>
                <a:latin typeface="Malgun Gothic"/>
              </a:rPr>
              <a:t>GCP 관리 플릿 — 외부 데이터 플레인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13" b="0">
                <a:solidFill>
                  <a:srgbClr val="454B52"/>
                </a:solidFill>
                <a:latin typeface="Malgun Gothic"/>
              </a:rPr>
              <a:t>실시간 CPU/메모리 텔레메트리 + 리사이즈 실행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95674" y="452780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498" y="4658106"/>
            <a:ext cx="202692" cy="2026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01058" y="452780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Compute Engine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VM 인벤토리 · setMachineType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0809" y="452780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6633" y="4658106"/>
            <a:ext cx="202692" cy="2026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16193" y="452780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Cloud Monitoring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instance/cpu/utilization (CPU)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25943" y="452780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1767" y="4658106"/>
            <a:ext cx="202692" cy="20269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31327" y="452780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Ops Agent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memory/percent_used (메모리)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212336" y="4035552"/>
            <a:ext cx="0" cy="405384"/>
          </a:xfrm>
          <a:prstGeom prst="line">
            <a:avLst/>
          </a:prstGeom>
          <a:ln w="10134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313682" y="4199515"/>
            <a:ext cx="3764280" cy="135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7" b="0">
                <a:solidFill>
                  <a:srgbClr val="454B52"/>
                </a:solidFill>
                <a:latin typeface="Malgun Gothic"/>
              </a:rPr>
              <a:t>수집 · GcpSyncService: list_time_series → 영속화(Metric/Host)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76616" y="4035552"/>
            <a:ext cx="0" cy="405384"/>
          </a:xfrm>
          <a:prstGeom prst="line">
            <a:avLst/>
          </a:prstGeom>
          <a:ln w="10134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077962" y="4170559"/>
            <a:ext cx="2171700" cy="135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7" b="0">
                <a:solidFill>
                  <a:srgbClr val="454B52"/>
                </a:solidFill>
                <a:latin typeface="Malgun Gothic"/>
              </a:rPr>
              <a:t>실행: setMachineType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1075" y="5174789"/>
            <a:ext cx="2895600" cy="1538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2" b="1">
                <a:solidFill>
                  <a:srgbClr val="16191D"/>
                </a:solidFill>
                <a:latin typeface="Malgun Gothic"/>
              </a:rPr>
              <a:t>배포 인프라 (계층 횡단 관심사)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751075" y="5353050"/>
            <a:ext cx="8686801" cy="0"/>
          </a:xfrm>
          <a:prstGeom prst="line">
            <a:avLst/>
          </a:prstGeom>
          <a:ln w="7239">
            <a:solidFill>
              <a:srgbClr val="1619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1751075" y="5425440"/>
            <a:ext cx="4271010" cy="92659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81377" y="5483352"/>
            <a:ext cx="4010406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16191D"/>
                </a:solidFill>
                <a:latin typeface="Malgun Gothic"/>
              </a:rPr>
              <a:t>런타임 플랫폼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Malgun Gothic"/>
              </a:rPr>
              <a:t>GCP 네이티브, scale-to-zero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81377" y="5758434"/>
            <a:ext cx="1940052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7201" y="5888736"/>
            <a:ext cx="202692" cy="20269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286761" y="5758434"/>
            <a:ext cx="1447800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Cloud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서버리스 · scale-to-zero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51731" y="5758434"/>
            <a:ext cx="1940052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ocker_2496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7556" y="5888736"/>
            <a:ext cx="202692" cy="20269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357116" y="5758434"/>
            <a:ext cx="1447800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Docker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비루트 컨테이너 이미지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66866" y="5425440"/>
            <a:ext cx="4271010" cy="92659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7168" y="5483352"/>
            <a:ext cx="4010406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16191D"/>
                </a:solidFill>
                <a:latin typeface="Malgun Gothic"/>
              </a:rPr>
              <a:t>CI/CD 파이프라인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Malgun Gothic"/>
              </a:rPr>
              <a:t>Cloud Build → Cloud Run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97168" y="5758434"/>
            <a:ext cx="1940052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git_F0503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2991" y="5888736"/>
            <a:ext cx="202692" cy="20269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702552" y="5758434"/>
            <a:ext cx="1447800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git push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GitHub · main 브랜치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67522" y="5758434"/>
            <a:ext cx="1940052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3346" y="5888736"/>
            <a:ext cx="202692" cy="20269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772906" y="5758434"/>
            <a:ext cx="1447800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Malgun Gothic"/>
              </a:rPr>
              <a:t>Cloud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Malgun Gothic"/>
              </a:rPr>
              <a:t>린트·테스트·빌드 → 배포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런타임 · CI/CD 구동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Cloud Build → Cloud Run · 실측 적재/Compute Engine 리사이즈 루프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922" y="1707863"/>
            <a:ext cx="9079107" cy="924723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89427" y="1775115"/>
            <a:ext cx="8810096" cy="319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CI/CD 파이프라인 (Cloud Build → Cloud Run)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1" b="0">
                <a:solidFill>
                  <a:srgbClr val="454B52"/>
                </a:solidFill>
                <a:latin typeface="Malgun Gothic"/>
              </a:rPr>
              <a:t>git push → 린트 → 테스트 → 이미지 빌드 → 배포 → 헬스 체크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23054" y="2094565"/>
            <a:ext cx="1260987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it_F05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746" y="2229071"/>
            <a:ext cx="218571" cy="2185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3383" y="2094565"/>
            <a:ext cx="756592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1" b="1">
                <a:solidFill>
                  <a:srgbClr val="16191D"/>
                </a:solidFill>
                <a:latin typeface="Malgun Gothic"/>
              </a:rPr>
              <a:t>개발자(Developer)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git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2501" y="2094565"/>
            <a:ext cx="1933513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193" y="2229071"/>
            <a:ext cx="218571" cy="2185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2830" y="2094565"/>
            <a:ext cx="1429118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Cloud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린트·테스트·빌드·배포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0410" y="2094565"/>
            <a:ext cx="1513184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102" y="2229071"/>
            <a:ext cx="218571" cy="2185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30739" y="2094565"/>
            <a:ext cx="1008789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Artifact Registry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컨테이너 이미지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89" y="2094565"/>
            <a:ext cx="1597250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681" y="2229071"/>
            <a:ext cx="218571" cy="2185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48318" y="2094565"/>
            <a:ext cx="1092855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Cloud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scale-to-zero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84041" y="2338356"/>
            <a:ext cx="588460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73876" y="2162449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트리거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06015" y="2338356"/>
            <a:ext cx="504395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53817" y="2162449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이미지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23594" y="2338356"/>
            <a:ext cx="504395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71397" y="2162449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배포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922" y="2968850"/>
            <a:ext cx="9079107" cy="924723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89427" y="3036102"/>
            <a:ext cx="8810096" cy="319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런타임 서빙 (서버리스)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1" b="0">
                <a:solidFill>
                  <a:srgbClr val="454B52"/>
                </a:solidFill>
                <a:latin typeface="Malgun Gothic"/>
              </a:rPr>
              <a:t>브라우저 → 프론트엔드 → 백엔드, 비밀값은 Secret Manager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23054" y="3355553"/>
            <a:ext cx="1260987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40746" y="3355553"/>
            <a:ext cx="1059229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브라우저(Browser)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React SPA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72501" y="3355553"/>
            <a:ext cx="1597250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193" y="3490058"/>
            <a:ext cx="218571" cy="2185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92830" y="3355553"/>
            <a:ext cx="1092855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프론트엔드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Cloud Run · nginx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4146" y="3355553"/>
            <a:ext cx="1597250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839" y="3490058"/>
            <a:ext cx="218571" cy="2185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94476" y="3355553"/>
            <a:ext cx="1092855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백엔드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FastAPI · Cloud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7989" y="3355553"/>
            <a:ext cx="1597250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681" y="3490058"/>
            <a:ext cx="218571" cy="21857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48318" y="3355553"/>
            <a:ext cx="1092855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Secret Manager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DB DSN / 비밀값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84041" y="3599343"/>
            <a:ext cx="588460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773876" y="3423436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HTTPS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69752" y="3599343"/>
            <a:ext cx="504394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17554" y="3423436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REST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71397" y="3599343"/>
            <a:ext cx="756592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45298" y="3423436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비밀값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4922" y="4229837"/>
            <a:ext cx="9079107" cy="201757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89427" y="4297090"/>
            <a:ext cx="8810096" cy="319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실제 플릿 모니터링 · 리사이즈 (Cloud Monitoring + Compute Engine)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1" b="0">
                <a:solidFill>
                  <a:srgbClr val="454B52"/>
                </a:solidFill>
                <a:latin typeface="Malgun Gothic"/>
              </a:rPr>
              <a:t>백엔드가 실측 CPU/메모리를 읽고, 예산 한도 내에서 실제 VM을 리사이즈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75251" y="4885550"/>
            <a:ext cx="1765381" cy="4707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943" y="5011649"/>
            <a:ext cx="218571" cy="21857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395580" y="4885550"/>
            <a:ext cx="1260987" cy="470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Cloud Monitoring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CPU + 메모리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53817" y="4885550"/>
            <a:ext cx="1933513" cy="4707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510" y="5011649"/>
            <a:ext cx="218571" cy="21857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674146" y="4885550"/>
            <a:ext cx="1429118" cy="470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Compute Engine 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setMachineType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96121" y="4885550"/>
            <a:ext cx="2269776" cy="571647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3813" y="4885550"/>
            <a:ext cx="2068018" cy="571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Malgun Gothic"/>
              </a:rPr>
              <a:t>실제 플릿 · ml-web/api/batch/idle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Malgun Gothic"/>
              </a:rPr>
              <a:t>e2-small · 부하 생성기 + Ops Agent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72772" y="3843134"/>
            <a:ext cx="0" cy="100879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56837" y="4255687"/>
            <a:ext cx="1681316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95" b="0">
                <a:solidFill>
                  <a:srgbClr val="454B52"/>
                </a:solidFill>
                <a:latin typeface="Malgun Gothic"/>
              </a:rPr>
              <a:t>리사이즈 (예산 가드)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010410" y="3843134"/>
            <a:ext cx="0" cy="907911"/>
          </a:xfrm>
          <a:prstGeom prst="line">
            <a:avLst/>
          </a:prstGeom>
          <a:ln w="11769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2857942" y="4751045"/>
            <a:ext cx="3152468" cy="0"/>
          </a:xfrm>
          <a:prstGeom prst="line">
            <a:avLst/>
          </a:prstGeom>
          <a:ln w="11769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857942" y="4751045"/>
            <a:ext cx="0" cy="100879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07886" y="4625577"/>
            <a:ext cx="1345052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CPU/메모리 조회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187331" y="5120934"/>
            <a:ext cx="975163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019199" y="4978653"/>
            <a:ext cx="1345052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stop→change→start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331009" y="5457198"/>
            <a:ext cx="0" cy="453955"/>
          </a:xfrm>
          <a:prstGeom prst="line">
            <a:avLst/>
          </a:prstGeom>
          <a:ln w="11769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857942" y="5911153"/>
            <a:ext cx="6473067" cy="0"/>
          </a:xfrm>
          <a:prstGeom prst="line">
            <a:avLst/>
          </a:prstGeom>
          <a:ln w="11769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857942" y="5389945"/>
            <a:ext cx="0" cy="521208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211785" y="5785685"/>
            <a:ext cx="1849447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Malgun Gothic"/>
              </a:rPr>
              <a:t>메트릭 전송 (Ops Agent)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방법론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텔레메트리 → 예측 → SLO 제약 정수계획 → 리사이즈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6597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1748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5113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Malgun Gothic"/>
              </a:rPr>
              <a:t>메트릭 이력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2421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CPU · 메모리 · 네트워크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2421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시계열 (시간단위)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3353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78504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1870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Malgun Gothic"/>
              </a:rPr>
              <a:t>분해 + AR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9178" y="4383566"/>
            <a:ext cx="1158240" cy="129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98" b="0">
                <a:solidFill>
                  <a:srgbClr val="454B52"/>
                </a:solidFill>
                <a:latin typeface="Malgun Gothic"/>
              </a:rPr>
              <a:t>추세(trend) + 계절(seasonal)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9178" y="4513868"/>
            <a:ext cx="1158240" cy="129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98" b="0">
                <a:solidFill>
                  <a:srgbClr val="454B52"/>
                </a:solidFill>
                <a:latin typeface="Malgun Gothic"/>
              </a:rPr>
              <a:t>+ rho·잔차 → 예측(forecast)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8573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90110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5261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8626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Malgun Gothic"/>
              </a:rPr>
              <a:t>강건 피크 (p95)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5934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예측의 p95 통계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5934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(단발 스파이크 무시)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45330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66866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32017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5382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Malgun Gothic"/>
              </a:rPr>
              <a:t>정수계획 최적화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2690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최소 할당 탐색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2690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s.t. 헤드룸 (정확 해)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22086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43622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08773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138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Malgun Gothic"/>
              </a:rPr>
              <a:t>GCP 머신 타입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9446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가장 근접한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9446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E2/N2/C2/C3 인스턴스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842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20378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85529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8894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Malgun Gothic"/>
              </a:rPr>
              <a:t>리사이즈 + 감사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6202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SLO 보존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6202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Malgun Gothic"/>
              </a:rPr>
              <a:t>감사 로그 영속 기록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75598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083051" y="2153412"/>
            <a:ext cx="1592580" cy="125958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6486" y="2057676"/>
            <a:ext cx="1737360" cy="104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4" b="0">
                <a:solidFill>
                  <a:srgbClr val="454B52"/>
                </a:solidFill>
                <a:latin typeface="Malgun Gothic"/>
              </a:rPr>
              <a:t>예측(forecast) + 95% 구간(interval)</a:t>
            </a:r>
          </a:p>
        </p:txBody>
      </p:sp>
      <p:sp>
        <p:nvSpPr>
          <p:cNvPr id="42" name="Freeform 41"/>
          <p:cNvSpPr/>
          <p:nvPr/>
        </p:nvSpPr>
        <p:spPr>
          <a:xfrm>
            <a:off x="4070773" y="2945445"/>
            <a:ext cx="546947" cy="351365"/>
          </a:xfrm>
          <a:custGeom>
            <a:avLst/>
            <a:gdLst/>
            <a:ahLst/>
            <a:cxnLst/>
            <a:rect l="l" t="t" r="r" b="b"/>
            <a:pathLst>
              <a:path w="546947" h="351365">
                <a:moveTo>
                  <a:pt x="0" y="61094"/>
                </a:moveTo>
                <a:lnTo>
                  <a:pt x="54695" y="122444"/>
                </a:lnTo>
                <a:lnTo>
                  <a:pt x="109389" y="170861"/>
                </a:lnTo>
                <a:lnTo>
                  <a:pt x="164084" y="204202"/>
                </a:lnTo>
                <a:lnTo>
                  <a:pt x="218779" y="221063"/>
                </a:lnTo>
                <a:lnTo>
                  <a:pt x="273473" y="220854"/>
                </a:lnTo>
                <a:lnTo>
                  <a:pt x="328168" y="203822"/>
                </a:lnTo>
                <a:lnTo>
                  <a:pt x="382862" y="171042"/>
                </a:lnTo>
                <a:lnTo>
                  <a:pt x="437557" y="124363"/>
                </a:lnTo>
                <a:lnTo>
                  <a:pt x="492252" y="66318"/>
                </a:lnTo>
                <a:lnTo>
                  <a:pt x="546947" y="0"/>
                </a:lnTo>
                <a:lnTo>
                  <a:pt x="546947" y="130302"/>
                </a:lnTo>
                <a:lnTo>
                  <a:pt x="492252" y="196620"/>
                </a:lnTo>
                <a:lnTo>
                  <a:pt x="437557" y="254665"/>
                </a:lnTo>
                <a:lnTo>
                  <a:pt x="382862" y="301344"/>
                </a:lnTo>
                <a:lnTo>
                  <a:pt x="328168" y="334124"/>
                </a:lnTo>
                <a:lnTo>
                  <a:pt x="273473" y="351156"/>
                </a:lnTo>
                <a:lnTo>
                  <a:pt x="218779" y="351365"/>
                </a:lnTo>
                <a:lnTo>
                  <a:pt x="164084" y="334504"/>
                </a:lnTo>
                <a:lnTo>
                  <a:pt x="109389" y="301163"/>
                </a:lnTo>
                <a:lnTo>
                  <a:pt x="54695" y="252746"/>
                </a:lnTo>
                <a:lnTo>
                  <a:pt x="0" y="191396"/>
                </a:lnTo>
                <a:close/>
              </a:path>
            </a:pathLst>
          </a:custGeom>
          <a:solidFill>
            <a:srgbClr val="D6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140963" y="2469555"/>
            <a:ext cx="929810" cy="602135"/>
          </a:xfrm>
          <a:custGeom>
            <a:avLst/>
            <a:gdLst/>
            <a:ahLst/>
            <a:cxnLst/>
            <a:rect l="l" t="t" r="r" b="b"/>
            <a:pathLst>
              <a:path w="929810" h="602135">
                <a:moveTo>
                  <a:pt x="0" y="313650"/>
                </a:moveTo>
                <a:lnTo>
                  <a:pt x="54695" y="241893"/>
                </a:lnTo>
                <a:lnTo>
                  <a:pt x="109390" y="173904"/>
                </a:lnTo>
                <a:lnTo>
                  <a:pt x="164085" y="113261"/>
                </a:lnTo>
                <a:lnTo>
                  <a:pt x="218779" y="63186"/>
                </a:lnTo>
                <a:lnTo>
                  <a:pt x="273474" y="26378"/>
                </a:lnTo>
                <a:lnTo>
                  <a:pt x="328169" y="4884"/>
                </a:lnTo>
                <a:lnTo>
                  <a:pt x="382863" y="0"/>
                </a:lnTo>
                <a:lnTo>
                  <a:pt x="437558" y="12202"/>
                </a:lnTo>
                <a:lnTo>
                  <a:pt x="492252" y="41128"/>
                </a:lnTo>
                <a:lnTo>
                  <a:pt x="546947" y="85593"/>
                </a:lnTo>
                <a:lnTo>
                  <a:pt x="601642" y="143647"/>
                </a:lnTo>
                <a:lnTo>
                  <a:pt x="656337" y="212672"/>
                </a:lnTo>
                <a:lnTo>
                  <a:pt x="711031" y="289512"/>
                </a:lnTo>
                <a:lnTo>
                  <a:pt x="765726" y="370624"/>
                </a:lnTo>
                <a:lnTo>
                  <a:pt x="820421" y="452257"/>
                </a:lnTo>
                <a:lnTo>
                  <a:pt x="875115" y="530633"/>
                </a:lnTo>
                <a:lnTo>
                  <a:pt x="929810" y="602135"/>
                </a:lnTo>
              </a:path>
            </a:pathLst>
          </a:custGeom>
          <a:noFill/>
          <a:ln w="1013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070773" y="3010596"/>
            <a:ext cx="546947" cy="221063"/>
          </a:xfrm>
          <a:custGeom>
            <a:avLst/>
            <a:gdLst/>
            <a:ahLst/>
            <a:cxnLst/>
            <a:rect l="l" t="t" r="r" b="b"/>
            <a:pathLst>
              <a:path w="546947" h="221063">
                <a:moveTo>
                  <a:pt x="0" y="61094"/>
                </a:moveTo>
                <a:lnTo>
                  <a:pt x="54695" y="122444"/>
                </a:lnTo>
                <a:lnTo>
                  <a:pt x="109389" y="170861"/>
                </a:lnTo>
                <a:lnTo>
                  <a:pt x="164084" y="204202"/>
                </a:lnTo>
                <a:lnTo>
                  <a:pt x="218779" y="221063"/>
                </a:lnTo>
                <a:lnTo>
                  <a:pt x="273473" y="220854"/>
                </a:lnTo>
                <a:lnTo>
                  <a:pt x="328168" y="203822"/>
                </a:lnTo>
                <a:lnTo>
                  <a:pt x="382862" y="171042"/>
                </a:lnTo>
                <a:lnTo>
                  <a:pt x="437557" y="124363"/>
                </a:lnTo>
                <a:lnTo>
                  <a:pt x="492252" y="66318"/>
                </a:lnTo>
                <a:lnTo>
                  <a:pt x="546947" y="0"/>
                </a:lnTo>
              </a:path>
            </a:pathLst>
          </a:custGeom>
          <a:noFill/>
          <a:ln w="10134">
            <a:solidFill>
              <a:srgbClr val="1F77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879341" y="3412998"/>
            <a:ext cx="0" cy="492252"/>
          </a:xfrm>
          <a:prstGeom prst="line">
            <a:avLst/>
          </a:prstGeom>
          <a:ln w="7239">
            <a:solidFill>
              <a:srgbClr val="1619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126486" y="5280660"/>
            <a:ext cx="5935980" cy="75285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239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1265" y="5500725"/>
            <a:ext cx="5646420" cy="196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12" b="1">
                <a:solidFill>
                  <a:srgbClr val="16191D"/>
                </a:solidFill>
                <a:latin typeface="Malgun Gothic"/>
              </a:rPr>
              <a:t>peak_load × safety_margin  ≤  target_utilisation × allocation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7461" y="5742508"/>
            <a:ext cx="5574030" cy="1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84" b="0">
                <a:solidFill>
                  <a:srgbClr val="454B52"/>
                </a:solidFill>
                <a:latin typeface="Malgun Gothic"/>
              </a:rPr>
              <a:t>전수 열거(exact enumeration)로 최소 할당 탐색 — 실현 가능한 최소 정수 사양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6094476" y="4860798"/>
            <a:ext cx="738378" cy="419862"/>
          </a:xfrm>
          <a:prstGeom prst="line">
            <a:avLst/>
          </a:prstGeom>
          <a:ln w="7239">
            <a:solidFill>
              <a:srgbClr val="1F77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모델 수식 연산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STL + AR(1) 예측과 정수계획 리사이징의 실제 계산식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51076" y="1719072"/>
            <a:ext cx="8686800" cy="268501"/>
          </a:xfrm>
          <a:prstGeom prst="roundRect">
            <a:avLst>
              <a:gd name="adj" fmla="val 23529"/>
            </a:avLst>
          </a:prstGeom>
          <a:solidFill>
            <a:srgbClr val="F4F6F8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7429" y="1772772"/>
            <a:ext cx="1895301" cy="161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6" b="1">
                <a:solidFill>
                  <a:srgbClr val="454B52"/>
                </a:solidFill>
                <a:latin typeface="Malgun Gothic"/>
              </a:rPr>
              <a:t>분해 모델: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5639" y="1795476"/>
            <a:ext cx="3316778" cy="1946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1" b="0">
                <a:solidFill>
                  <a:srgbClr val="16191D"/>
                </a:solidFill>
                <a:latin typeface="Malgun Gothic"/>
              </a:rPr>
              <a:t>y</a:t>
            </a:r>
            <a:r>
              <a:rPr sz="64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901" b="0">
                <a:solidFill>
                  <a:srgbClr val="16191D"/>
                </a:solidFill>
                <a:latin typeface="Malgun Gothic"/>
              </a:rPr>
              <a:t> = T</a:t>
            </a:r>
            <a:r>
              <a:rPr sz="64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901" b="0">
                <a:solidFill>
                  <a:srgbClr val="16191D"/>
                </a:solidFill>
                <a:latin typeface="Malgun Gothic"/>
              </a:rPr>
              <a:t> + S</a:t>
            </a:r>
            <a:r>
              <a:rPr sz="649" b="0" baseline="-25000">
                <a:solidFill>
                  <a:srgbClr val="16191D"/>
                </a:solidFill>
                <a:latin typeface="Malgun Gothic"/>
              </a:rPr>
              <a:t>t mod m</a:t>
            </a:r>
            <a:r>
              <a:rPr sz="901" b="0">
                <a:solidFill>
                  <a:srgbClr val="16191D"/>
                </a:solidFill>
                <a:latin typeface="Malgun Gothic"/>
              </a:rPr>
              <a:t> + r</a:t>
            </a:r>
            <a:r>
              <a:rPr sz="649" b="0" baseline="-25000">
                <a:solidFill>
                  <a:srgbClr val="16191D"/>
                </a:solidFill>
                <a:latin typeface="Malgun Gothic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7988" y="1779484"/>
            <a:ext cx="1263534" cy="1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84" b="0">
                <a:solidFill>
                  <a:srgbClr val="454B52"/>
                </a:solidFill>
                <a:latin typeface="Malgun Gothic"/>
              </a:rPr>
              <a:t>m =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1076" y="2108990"/>
            <a:ext cx="868680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1">
                <a:solidFill>
                  <a:srgbClr val="1F77B4"/>
                </a:solidFill>
                <a:latin typeface="Malgun Gothic"/>
              </a:rPr>
              <a:t>A. 예측  —  계절-추세 분해 + AR(1) 잔차 보정  (CPU 전용, 표준 라이브러리)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6870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66870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6870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3738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1. 추세 (OLS)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1635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T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= b.t +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1635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블록평균 y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k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1635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중심 c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k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(계절제거)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5818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35818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35818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2686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2. 계절 지수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583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d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= y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- T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583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S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j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=mean d (t mod m=j)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583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재중심화: sum S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j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=0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46288" y="2808870"/>
            <a:ext cx="189530" cy="0"/>
          </a:xfrm>
          <a:prstGeom prst="line">
            <a:avLst/>
          </a:prstGeom>
          <a:ln w="1105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04766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04766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4766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1634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3. 잔차 + AR(1)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532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r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= d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- S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 mod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532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rho = Sr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r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t-1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/ Sr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t</a:t>
            </a:r>
            <a:r>
              <a:rPr sz="559" b="0" baseline="30000">
                <a:solidFill>
                  <a:srgbClr val="16191D"/>
                </a:solidFill>
                <a:latin typeface="Malgun Gothic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532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rho in [0, 0.95]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15236" y="2808870"/>
            <a:ext cx="189530" cy="0"/>
          </a:xfrm>
          <a:prstGeom prst="line">
            <a:avLst/>
          </a:prstGeom>
          <a:ln w="1105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73715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73715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73715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0583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4. 점예측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480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y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^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n-1+h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= T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n-1+h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8480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 + S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(n-1+h) mod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8480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 + rho</a:t>
            </a:r>
            <a:r>
              <a:rPr sz="559" b="0" baseline="30000">
                <a:solidFill>
                  <a:srgbClr val="16191D"/>
                </a:solidFill>
                <a:latin typeface="Malgun Gothic"/>
              </a:rPr>
              <a:t>h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.r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n-1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84185" y="2808870"/>
            <a:ext cx="189530" cy="0"/>
          </a:xfrm>
          <a:prstGeom prst="line">
            <a:avLst/>
          </a:prstGeom>
          <a:ln w="1105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842663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42663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42663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29531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5. 95% 예측구간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37428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RMSE: 1-스텝 백테스트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37428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PI = y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^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 +/- 1.96.RMSE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7428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PICP ~ 0.93-0.98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53133" y="2808870"/>
            <a:ext cx="189530" cy="0"/>
          </a:xfrm>
          <a:prstGeom prst="line">
            <a:avLst/>
          </a:prstGeom>
          <a:ln w="1105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94476" y="3330078"/>
            <a:ext cx="0" cy="315884"/>
          </a:xfrm>
          <a:prstGeom prst="line">
            <a:avLst/>
          </a:prstGeom>
          <a:ln w="1105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89241" y="3429976"/>
            <a:ext cx="2369127" cy="1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84" b="0">
                <a:solidFill>
                  <a:srgbClr val="454B52"/>
                </a:solidFill>
                <a:latin typeface="Malgun Gothic"/>
              </a:rPr>
              <a:t>예측 피크가 옵티마이저 입력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1076" y="3751585"/>
            <a:ext cx="868680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1">
                <a:solidFill>
                  <a:srgbClr val="D62728"/>
                </a:solidFill>
                <a:latin typeface="Malgun Gothic"/>
              </a:rPr>
              <a:t>B. 리사이징  —  유계 공간 정확 정수계획 (자원별: vCPU, 메모리 블록)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74767" y="3930257"/>
            <a:ext cx="2005861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774767" y="3930257"/>
            <a:ext cx="2005861" cy="205324"/>
          </a:xfrm>
          <a:prstGeom prst="roundRect">
            <a:avLst>
              <a:gd name="adj" fmla="val 34615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774767" y="4040816"/>
            <a:ext cx="2005861" cy="94765"/>
          </a:xfrm>
          <a:prstGeom prst="roundRect">
            <a:avLst>
              <a:gd name="adj" fmla="val 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61635" y="3955725"/>
            <a:ext cx="1879507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6. 강건 피크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69532" y="4225411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x = 예측의 p95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69532" y="4399147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rank = ceil(0.95.N)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69532" y="4572883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(최댓값 아닌 근접순위)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85952" y="3930257"/>
            <a:ext cx="2005861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985952" y="3930257"/>
            <a:ext cx="2005861" cy="205324"/>
          </a:xfrm>
          <a:prstGeom prst="roundRect">
            <a:avLst>
              <a:gd name="adj" fmla="val 34615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985952" y="4040816"/>
            <a:ext cx="2005861" cy="94765"/>
          </a:xfrm>
          <a:prstGeom prst="roundRect">
            <a:avLst>
              <a:gd name="adj" fmla="val 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72820" y="3955725"/>
            <a:ext cx="1879507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7. 부하(자원단위)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80717" y="4225411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L = (x/100).u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cur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.g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80717" y="4399147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g = 1.2 (안전마진)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80717" y="4572883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u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cur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: 현재 단위수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780628" y="4451465"/>
            <a:ext cx="205324" cy="0"/>
          </a:xfrm>
          <a:prstGeom prst="line">
            <a:avLst/>
          </a:prstGeom>
          <a:ln w="1105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197138" y="3930257"/>
            <a:ext cx="2005861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197138" y="3930257"/>
            <a:ext cx="2005861" cy="205324"/>
          </a:xfrm>
          <a:prstGeom prst="roundRect">
            <a:avLst>
              <a:gd name="adj" fmla="val 34615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197138" y="4040816"/>
            <a:ext cx="2005861" cy="94765"/>
          </a:xfrm>
          <a:prstGeom prst="roundRect">
            <a:avLst>
              <a:gd name="adj" fmla="val 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84006" y="3955725"/>
            <a:ext cx="1879507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8. 정수계획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91903" y="4225411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minimise  u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91903" y="4399147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s.t.  L &lt;= t.u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903" y="4572883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t=0.65, u in {1..u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_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cur}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991813" y="4451465"/>
            <a:ext cx="205325" cy="0"/>
          </a:xfrm>
          <a:prstGeom prst="line">
            <a:avLst/>
          </a:prstGeom>
          <a:ln w="1105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8408323" y="3930257"/>
            <a:ext cx="2005861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408323" y="3930257"/>
            <a:ext cx="2005861" cy="205324"/>
          </a:xfrm>
          <a:prstGeom prst="roundRect">
            <a:avLst>
              <a:gd name="adj" fmla="val 34615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408323" y="4040816"/>
            <a:ext cx="2005861" cy="94765"/>
          </a:xfrm>
          <a:prstGeom prst="roundRect">
            <a:avLst>
              <a:gd name="adj" fmla="val 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95191" y="3955725"/>
            <a:ext cx="1879507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Malgun Gothic"/>
              </a:rPr>
              <a:t>9. 할당 + 절감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088" y="4225411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u* = min(u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cur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, ceil(L/t))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088" y="4399147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M* = ceil(L</a:t>
            </a:r>
            <a:r>
              <a:rPr sz="559" b="0" baseline="-25000">
                <a:solidFill>
                  <a:srgbClr val="16191D"/>
                </a:solidFill>
                <a:latin typeface="Malgun Gothic"/>
              </a:rPr>
              <a:t>m</a:t>
            </a:r>
            <a:r>
              <a:rPr sz="777" b="0">
                <a:solidFill>
                  <a:srgbClr val="16191D"/>
                </a:solidFill>
                <a:latin typeface="Malgun Gothic"/>
              </a:rPr>
              <a:t>/t).256MB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088" y="4572883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Malgun Gothic"/>
              </a:rPr>
              <a:t>절감 = avg D/cur .100%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202999" y="4451465"/>
            <a:ext cx="205324" cy="0"/>
          </a:xfrm>
          <a:prstGeom prst="line">
            <a:avLst/>
          </a:prstGeom>
          <a:ln w="1105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540785" y="5125679"/>
            <a:ext cx="7107381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77" b="1">
                <a:solidFill>
                  <a:srgbClr val="16191D"/>
                </a:solidFill>
                <a:latin typeface="Malgun Gothic"/>
              </a:rPr>
              <a:t>-&gt; GCP 머신 타입(E2 / N2 / C2 / C3)으로 스냅, 예산 가드 리사이즈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예측 정확도: 예측 vs 실측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1-스텝 예측과 95% 예측구간 (대표 워크로드)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forecast_overlay_k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116" y="1554480"/>
            <a:ext cx="652272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예측 오차 (RMSE)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모델 vs 직전값/seasonal-naive 기준선 (낮을수록 우수)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error_rmse_k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554480"/>
            <a:ext cx="97840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MASE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1 미만이면 seasonal-naive 기준선 능가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se_k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554480"/>
            <a:ext cx="97840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예측구간 보정 (PICP)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실측 커버리지 0.93–0.98 vs 공칭 0.95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coverage_k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554480"/>
            <a:ext cx="97840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Malgun Gothic"/>
              </a:rPr>
              <a:t>잔차 자기상관 (ACF)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Malgun Gothic"/>
              </a:rPr>
              <a:t>백색잡음 대역 내 = 적합 양호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residual_acf_k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75" y="1554480"/>
            <a:ext cx="1087120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Malgun Gothic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